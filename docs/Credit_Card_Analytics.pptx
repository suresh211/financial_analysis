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3254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28358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-2103120" y="4206240"/>
            <a:ext cx="4754880" cy="4754880"/>
          </a:xfrm>
          <a:prstGeom prst="ellipse">
            <a:avLst/>
          </a:prstGeom>
          <a:solidFill>
            <a:srgbClr val="242E7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62636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502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ANALYTICS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Card Portfolio Analytics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for Power BI — Utilization, Growth, Retention &amp; Delinquency Risk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FC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Suresh Deuja  ·  Data Analytics Portfolio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Report Covers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DAX-driven measures grouped into four analytical themes, built for a client-level credit card dataset in Power BI.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3" y="2479853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3042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Trends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508760" y="266090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totals, moving averages, MoM/WoW growth and acquisition cost ratio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778240" y="24505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1–4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29184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3" y="3439973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3264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Utilization &amp; Revenue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508760" y="362102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ratios, interest yield, top clients and high-usage flags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778240" y="3410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5–8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251960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3" y="4400093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Retention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508760" y="458114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detection, delinquency rate, composite risk score and correlation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778240" y="43708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9–12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52120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213" y="5360213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5184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 Insights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1508760" y="554126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by card tier, loan behaviour and a combined high-risk flag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778240" y="53309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13–15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5029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7065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Behind the Measures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6492240" cy="4206240"/>
          </a:xfrm>
          <a:prstGeom prst="roundRect">
            <a:avLst>
              <a:gd name="adj" fmla="val 1739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14400" y="2011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tables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423160"/>
            <a:ext cx="5989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— the client-level fact/dimension table: CLIENTNUM, creditLimit, Income, Avg_Utilization_Ratio, Total_Revolving_Bal, Total_Trans_Amt, Interest_Earned, Delinquent_Acc, Card_Category, Personal_loan, Cust_Satisfaction_Score.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— a standard CALENDAR() date table, marked as the active date table and related to a transaction-date column, needed for the running total, moving average, MoM/WoW growth and churn measures.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Acquisition_Cost — assumed present for the CAC measure; substitute your actual cost field if named differently.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60920" y="182880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63524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convention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35240" y="24231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IN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use Power BI's built-in Percentage format directly on the measure, so DIVIDE results stay as decimals (0–1) and display with the % symbol — no manual ×100 needed. The Credit Risk Score (a 0–100 point score, not a ratio) is the one exception and keeps its ×100 scaling with Decimal Number formatting.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35240" y="43434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source file is a single client-level snapshot (no transaction dates), treat measures 1, 2, 3 and 9 as the standard time-intelligence pattern to apply once a dated fact table is loaded.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TRENDS  ·  PROBLEM 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835640" y="384048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5543" y="523951"/>
            <a:ext cx="341986" cy="3419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Total of Credit Card Transactions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cumulative sum of transaction amount up to the current date in context — each point on the trend shows everything spent so far, not just that period.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1785" y="5418814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90385" y="560209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18985" y="555597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0385" y="5830294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on a line chart by date to reveal acceleration or plateaus in overall spend.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03520" cy="2999232"/>
          </a:xfrm>
          <a:prstGeom prst="roundRect">
            <a:avLst>
              <a:gd name="adj" fmla="val 2744"/>
            </a:avLst>
          </a:prstGeom>
          <a:solidFill>
            <a:srgbClr val="162053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53796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37960" y="2267712"/>
            <a:ext cx="480060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Running_total = CALCULATE([</a:t>
            </a:r>
            <a:r>
              <a:rPr lang="en-IN" sz="1200" noProof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total_trans_amount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FILTER(ALL(Calender[Date]),Calender[Date]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&lt;=MAX(Calender[Date])))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4981428-2145-2236-603F-1D44512222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4907" y="2695492"/>
            <a:ext cx="3090905" cy="23489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TRENDS  ·  PROBLEM 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835640" y="384048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5543" y="523951"/>
            <a:ext cx="341986" cy="3419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4-Week Moving Average of Credit Limit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Smooths short-term noise by averaging creditLimit over the trailing 28 days for each client, so limit-policy trends read clearly.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42515" y="5413248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71115" y="562356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99715" y="5550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1115" y="58247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widening gap between the raw value and this average signals a recent limit change.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79"/>
            <a:ext cx="5257800" cy="3925957"/>
          </a:xfrm>
          <a:prstGeom prst="roundRect">
            <a:avLst>
              <a:gd name="adj" fmla="val 2525"/>
            </a:avLst>
          </a:prstGeom>
          <a:solidFill>
            <a:srgbClr val="162053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3796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37960" y="2267712"/>
            <a:ext cx="4697233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4_week_moving average = </a:t>
            </a:r>
          </a:p>
          <a:p>
            <a:pPr>
              <a:lnSpc>
                <a:spcPts val="1650"/>
              </a:lnSpc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time_period=FILTER(ALL(Calender),Calender[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week_num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]&gt;=MAX</a:t>
            </a:r>
          </a:p>
          <a:p>
            <a:pPr>
              <a:lnSpc>
                <a:spcPts val="1650"/>
              </a:lnSpc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(Calender[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week_num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])-3 &amp;&amp; Calender[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week_num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]&lt;=MAX(Calender[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week_num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</a:t>
            </a:r>
          </a:p>
          <a:p>
            <a:pPr>
              <a:lnSpc>
                <a:spcPts val="1650"/>
              </a:lnSpc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rev_per_period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=CALCULATE(SUM(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credit_card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Credit_Limit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]),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time_period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>
              <a:lnSpc>
                <a:spcPts val="1650"/>
              </a:lnSpc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week_time_period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CALCULATE(DISTINCTCOUNT(Calender[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week_num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]),time_period)</a:t>
            </a:r>
          </a:p>
          <a:p>
            <a:pPr>
              <a:lnSpc>
                <a:spcPts val="1650"/>
              </a:lnSpc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DIVIDE(rev_per_period,week_time_period,0)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D2758C-38AC-EA5C-8E4C-199943D3F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949" y="2673428"/>
            <a:ext cx="3898486" cy="26342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TRENDS  ·  PROBLEM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835640" y="384048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5543" y="523951"/>
            <a:ext cx="341986" cy="3419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 % and WoW % Growth on Transaction Amount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current transaction amount against the same measure one month, and one week, earlier — the two standard growth-rate lenses.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78904" y="5468112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07504" y="5678424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36104" y="5605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07504" y="587959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WoW for operational alerts and MoM for board-level trend reporting.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26480" y="1826614"/>
            <a:ext cx="5013960" cy="2050641"/>
          </a:xfrm>
          <a:prstGeom prst="roundRect">
            <a:avLst>
              <a:gd name="adj" fmla="val 1913"/>
            </a:avLst>
          </a:prstGeom>
          <a:solidFill>
            <a:srgbClr val="162053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0" y="2190916"/>
            <a:ext cx="1790700" cy="27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00800" y="2530378"/>
            <a:ext cx="4700588" cy="3302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MoM % Growth =</a:t>
            </a:r>
            <a:endParaRPr lang="en-US" sz="1200" dirty="0"/>
          </a:p>
          <a:p>
            <a:pPr marL="0" indent="0">
              <a:lnSpc>
                <a:spcPts val="1650"/>
              </a:lnSpc>
              <a:buNone/>
            </a:pP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MoM_pre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=CALCULATE([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total_trans_amount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b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DATEADD(Calender[Date],-1,MONTH))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DIVIDE([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total_trans_amount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]-MoM_pre,MoM_pre,0)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F4561100-B032-AE6F-8C6B-C6FD87FD3E82}"/>
              </a:ext>
            </a:extLst>
          </p:cNvPr>
          <p:cNvSpPr/>
          <p:nvPr/>
        </p:nvSpPr>
        <p:spPr>
          <a:xfrm>
            <a:off x="6096000" y="4073056"/>
            <a:ext cx="5053889" cy="2773017"/>
          </a:xfrm>
          <a:prstGeom prst="roundRect">
            <a:avLst>
              <a:gd name="adj" fmla="val 1913"/>
            </a:avLst>
          </a:prstGeom>
          <a:solidFill>
            <a:srgbClr val="162053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4524B21C-3C73-233B-0FED-354A990E95FA}"/>
              </a:ext>
            </a:extLst>
          </p:cNvPr>
          <p:cNvSpPr/>
          <p:nvPr/>
        </p:nvSpPr>
        <p:spPr>
          <a:xfrm>
            <a:off x="6339840" y="4606588"/>
            <a:ext cx="4800600" cy="3314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WOW % Growth =</a:t>
            </a:r>
            <a:endParaRPr lang="en-US" sz="1200" dirty="0"/>
          </a:p>
          <a:p>
            <a:pPr marL="0" indent="0">
              <a:lnSpc>
                <a:spcPts val="1650"/>
              </a:lnSpc>
              <a:buNone/>
            </a:pP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pre_week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=CALCULATE([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total_trans_amount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],DATEADD(Calender[Date],-7,DAY))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DIVIDE([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total_trans_amount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]-pre_week,pre_week,0)</a:t>
            </a:r>
            <a:endParaRPr lang="en-US" sz="1200" dirty="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F65F213B-91B2-8A5A-4E47-988C9F65919F}"/>
              </a:ext>
            </a:extLst>
          </p:cNvPr>
          <p:cNvSpPr/>
          <p:nvPr/>
        </p:nvSpPr>
        <p:spPr>
          <a:xfrm>
            <a:off x="6263640" y="4325311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2749107-C4DE-4885-C359-397E0DDAF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249" y="2633472"/>
            <a:ext cx="2476715" cy="272948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076BBAD-7E10-B14D-29CB-1476AE4E1C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0833" y="2740108"/>
            <a:ext cx="2514818" cy="24750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TRENDS  ·  PROBLEM 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835640" y="384048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5543" y="523951"/>
            <a:ext cx="341986" cy="3419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Acquisition Cost as a Ratio of Transaction Amount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Expresses what was spent to acquire clients as a percentage of the transaction revenue those clients generate — an efficiency check on acquisition spend.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" y="528523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7280" y="5212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54864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rising ratio over time means acquisition spend is outpacing the revenue it produces.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03520" cy="2377440"/>
          </a:xfrm>
          <a:prstGeom prst="roundRect">
            <a:avLst>
              <a:gd name="adj" fmla="val 3462"/>
            </a:avLst>
          </a:prstGeom>
          <a:solidFill>
            <a:srgbClr val="162053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3796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37960" y="2267712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 to Trans Amt % =</a:t>
            </a:r>
            <a:endParaRPr lang="en-US" sz="1200" dirty="0"/>
          </a:p>
          <a:p>
            <a:pPr marL="0" indent="0">
              <a:lnSpc>
                <a:spcPts val="1650"/>
              </a:lnSpc>
              <a:buNone/>
            </a:pP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DIVIDE(SUM(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credit_card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Customer_Acq_Cost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]),[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total_trans_amount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4925503-C5A4-D1D1-DEDF-E5BB7A961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6570" y="2914920"/>
            <a:ext cx="1942671" cy="15016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&amp; REVENUE  ·  PROBLEM 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835640" y="38404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5543" y="523951"/>
            <a:ext cx="341986" cy="3419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Yearly Average of Avg_Utilization_Ratio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Rolls up every client’s utilization ratio into one portfolio-level figure per year, the headline number for overall credit-line usage.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" y="528523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7280" y="5212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54864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this by year to spot whether the book is drifting toward heavier utilization.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03520" cy="2377440"/>
          </a:xfrm>
          <a:prstGeom prst="roundRect">
            <a:avLst>
              <a:gd name="adj" fmla="val 3462"/>
            </a:avLst>
          </a:prstGeom>
          <a:solidFill>
            <a:srgbClr val="162053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3796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37960" y="2267712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Yearly Avg Utilization =</a:t>
            </a:r>
            <a:endParaRPr lang="en-US" sz="1200" dirty="0"/>
          </a:p>
          <a:p>
            <a:pPr marL="0" indent="0">
              <a:lnSpc>
                <a:spcPts val="1650"/>
              </a:lnSpc>
              <a:buNone/>
            </a:pP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 (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AVERAGE ( 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credit_card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Avg_Utilization_Ratio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),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ALLEXCEPT ( 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credit_card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credit_card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current_year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)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67F89FC-B711-DAC1-781F-09A1BB37C6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9966" y="2990088"/>
            <a:ext cx="1746651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&amp; REVENUE  ·  PROBLEM 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835640" y="38404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5543" y="523951"/>
            <a:ext cx="341986" cy="3419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 Earned as a % of Total Revolving Balance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much interest yield is being generated per client relative to the balance they are carrying — a proxy for revolving-book profitability.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" y="528523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7280" y="5212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54864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this against the delinquency rate for the same client — high yield with high delinquency is a red flag, not a win.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03520" cy="2377440"/>
          </a:xfrm>
          <a:prstGeom prst="roundRect">
            <a:avLst>
              <a:gd name="adj" fmla="val 3462"/>
            </a:avLst>
          </a:prstGeom>
          <a:solidFill>
            <a:srgbClr val="162053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3796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37960" y="2267712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Interest % of Revolving Bal =</a:t>
            </a:r>
            <a:endParaRPr lang="en-US" sz="1200" dirty="0"/>
          </a:p>
          <a:p>
            <a:pPr marL="0" indent="0">
              <a:lnSpc>
                <a:spcPts val="1650"/>
              </a:lnSpc>
              <a:buNone/>
            </a:pP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DIVIDE(SUM(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credit_card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Interest_Earned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]),SUM(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credit_card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Total_Revolving_Bal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8F7A7AF-7499-CA1F-DAD5-0E9FD5F1D3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1164" y="2919998"/>
            <a:ext cx="1606113" cy="16520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&amp; REVENUE  ·  PROBLEM 7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835640" y="38404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5543" y="523951"/>
            <a:ext cx="341986" cy="3419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Clients by Total Transaction Amount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clients dynamically within whatever filter context is active, so the leaderboard updates as the user slices the report.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" y="528523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7280" y="5212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54864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RANKX as a visual-level filter to build a self-updating Top 5 table.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03520" cy="2999232"/>
          </a:xfrm>
          <a:prstGeom prst="roundRect">
            <a:avLst>
              <a:gd name="adj" fmla="val 2744"/>
            </a:avLst>
          </a:prstGeom>
          <a:solidFill>
            <a:srgbClr val="162053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3796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37960" y="2267712"/>
            <a:ext cx="480060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5 Trans Amt =</a:t>
            </a:r>
            <a:endParaRPr lang="en-US" sz="1200" dirty="0"/>
          </a:p>
          <a:p>
            <a:pPr marL="0" indent="0">
              <a:lnSpc>
                <a:spcPts val="1650"/>
              </a:lnSpc>
              <a:buNone/>
            </a:pP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SELECTCOLUMNS(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TOPN(5,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SUMMARIZE(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credit_card,credit_card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[Client_Num],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"total_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transt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",SUM(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credit_card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Total_Trans_Amt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])),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total_transt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],DESC),"client_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credit_card</a:t>
            </a:r>
            <a:endParaRPr lang="en-IN" sz="1200" dirty="0">
              <a:solidFill>
                <a:srgbClr val="CADCFC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ts val="1650"/>
              </a:lnSpc>
              <a:buNone/>
            </a:pP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[Client_Num])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1CA88E1-8A38-4AB3-3A33-C24194AB7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2808" y="2709732"/>
            <a:ext cx="1636353" cy="21594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&amp; REVENUE  ·  PROBLEM 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835640" y="38404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5543" y="523951"/>
            <a:ext cx="341986" cy="3419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Clients Whose Avg_Utilization_Ratio Exceeds 80%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and isolates the clients running their credit lines hot — the pool most likely to need a limit review or proactive outreach.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" y="528523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7280" y="5212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54864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this count into a card visual alongside the total client count for an instant exposure ratio.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03520" cy="2377440"/>
          </a:xfrm>
          <a:prstGeom prst="roundRect">
            <a:avLst>
              <a:gd name="adj" fmla="val 3462"/>
            </a:avLst>
          </a:prstGeom>
          <a:solidFill>
            <a:srgbClr val="162053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3796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37960" y="2267712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Utilization Clients =</a:t>
            </a:r>
            <a:endParaRPr lang="en-US" sz="1200" dirty="0"/>
          </a:p>
          <a:p>
            <a:pPr marL="0" indent="0">
              <a:lnSpc>
                <a:spcPts val="1650"/>
              </a:lnSpc>
              <a:buNone/>
            </a:pP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 AVERAGE(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credit_card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Avg_Utilization_Ratio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])&gt;0.8,"high_utilization","Normal")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539CC57-E673-23C0-4695-8052AF6BA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8380" y="2761488"/>
            <a:ext cx="1844200" cy="22398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RETENTION  ·  PROBLEM 9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835640" y="384048"/>
            <a:ext cx="621792" cy="62179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5543" y="523951"/>
            <a:ext cx="341986" cy="3419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Indicator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any client with zero transaction amount across the trailing six months — a simple, fast proxy for disengagement.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" y="528523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7280" y="5212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54864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this as a KPI tile so retention teams can prioritise outreach before an account lapses further.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03520" cy="3781044"/>
          </a:xfrm>
          <a:prstGeom prst="roundRect">
            <a:avLst>
              <a:gd name="adj" fmla="val 2177"/>
            </a:avLst>
          </a:prstGeom>
          <a:solidFill>
            <a:srgbClr val="162053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3796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37960" y="2267712"/>
            <a:ext cx="4800600" cy="3232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Churn Flag =</a:t>
            </a:r>
            <a:endParaRPr lang="en-US" sz="1200" dirty="0"/>
          </a:p>
          <a:p>
            <a:pPr marL="0" indent="0">
              <a:lnSpc>
                <a:spcPts val="1650"/>
              </a:lnSpc>
              <a:buNone/>
            </a:pP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client_last_date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=MAX(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credit_card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Week_Start_Date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dataset_last_date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CALCULATE(MAX(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credit_card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Week_Start_Date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]),ALL(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credit_card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IF(DATEDIFF(</a:t>
            </a:r>
            <a:r>
              <a:rPr lang="en-IN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client_last_date,dataset_last_date,DAY</a:t>
            </a:r>
            <a:r>
              <a:rPr lang="en-IN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)&gt;180,"churned","active")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EC6D04C-483C-9949-2BAB-7BFE057605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3582" y="2703176"/>
            <a:ext cx="1577477" cy="216600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B388184-EA9E-FB6A-BCBC-F0FDEE1002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2556434"/>
            <a:ext cx="1386960" cy="24157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RETENTION  ·  PROBLEM 10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835640" y="384048"/>
            <a:ext cx="621792" cy="62179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5543" y="523951"/>
            <a:ext cx="341986" cy="3419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Delinquency Rate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 of the client base carrying at least one delinquent account — the single most-watched credit-quality metric.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" y="528523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7280" y="5212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54864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this out by Card_Category to see whether risk concentrates in a specific tier.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03520" cy="2999232"/>
          </a:xfrm>
          <a:prstGeom prst="roundRect">
            <a:avLst>
              <a:gd name="adj" fmla="val 2744"/>
            </a:avLst>
          </a:prstGeom>
          <a:solidFill>
            <a:srgbClr val="162053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3796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37960" y="2267712"/>
            <a:ext cx="480060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Delinquency Rate % =</a:t>
            </a:r>
            <a:endParaRPr lang="en-US" sz="12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total_customer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=DISTINCTCOUNT(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credit_card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[Client_Num])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delinquency=CALCULATE(DISTINCTCOUNT(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credit_card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[Client_Num]),FILTER(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credit_card,credit_card</a:t>
            </a:r>
            <a:endParaRPr lang="en-US" sz="1200" dirty="0">
              <a:solidFill>
                <a:srgbClr val="CADCFC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Delinquent_Acc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]&gt;0))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DIVIDE(delinquency,total_customer,0)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7A28F35-D5A0-4843-9F8E-0ADC1E0FE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1691" y="2721691"/>
            <a:ext cx="2057578" cy="19966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RETENTION  ·  PROBLEM 11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835640" y="384048"/>
            <a:ext cx="621792" cy="62179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5543" y="523951"/>
            <a:ext cx="341986" cy="3419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Risk Score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composite of utilization, delinquency and revolving balance, so each client gets one comparable 0–100 risk figure instead of three separate ones.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" y="528523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7280" y="5212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54864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(40/35/25) are a starting point — recalibrate them once you can validate the score against actual write-offs.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62211" y="1380744"/>
            <a:ext cx="5239512" cy="5367528"/>
          </a:xfrm>
          <a:prstGeom prst="roundRect">
            <a:avLst>
              <a:gd name="adj" fmla="val 2177"/>
            </a:avLst>
          </a:prstGeom>
          <a:solidFill>
            <a:srgbClr val="162053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696985" y="146717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696985" y="1862633"/>
            <a:ext cx="4779569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 Risk Score =</a:t>
            </a:r>
            <a:endParaRPr lang="en-US" sz="12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 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avg_utilization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=AVERAGE(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credit_card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Avg_Utilization_Ratio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])*50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 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Delinquent_Acc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=AVERAGE(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credit_card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Delinquent_Acc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])*15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 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revolv_ratio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=DIVIDE(AVERAGE(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credit_card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Total_Revolving_Bal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]),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AVERAGE(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credit_card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Credit_Limit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 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revolv_score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revolv_ratio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*35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 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avg_utilization+Delinquent_Acc+revolv_score</a:t>
            </a:r>
            <a:endParaRPr lang="en-US" sz="1200" dirty="0">
              <a:solidFill>
                <a:srgbClr val="CADCFC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 score = 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</a:t>
            </a:r>
            <a:endParaRPr lang="en-US" sz="1200" dirty="0">
              <a:solidFill>
                <a:srgbClr val="CADCFC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SWITCH (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TRUE (),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score &lt; 30, "Low",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score &lt; 60, "Medium",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"High"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48C11FF-BE41-9048-F9BF-B997D8CA7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2633472"/>
            <a:ext cx="1386960" cy="235409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RETENTION  ·  PROBLEM 12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835640" y="384048"/>
            <a:ext cx="621792" cy="62179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5543" y="523951"/>
            <a:ext cx="341986" cy="3419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vs Credit Limit Correlation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has no built-in CORREL, so the Pearson coefficient is built by hand from its five summed components across all clients.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" y="528523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7280" y="5212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54864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coefficient near 1 supports income-based limit setting; near 0 suggests other factors drive limit decisions.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1170431"/>
            <a:ext cx="5334000" cy="4514751"/>
          </a:xfrm>
          <a:prstGeom prst="roundRect">
            <a:avLst>
              <a:gd name="adj" fmla="val 2036"/>
            </a:avLst>
          </a:prstGeom>
          <a:solidFill>
            <a:srgbClr val="162053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84289" y="1271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363031" y="1554480"/>
            <a:ext cx="480060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Income-CreditLimit Correlation =</a:t>
            </a:r>
            <a:endParaRPr lang="en-US" sz="12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client_table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SUMMARIZE(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credit_card,credit_card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[Client_Num],"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average_income",AVERAGE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(customer[Income])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,"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average_credit",AVERAGE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credit_card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Credit_Limit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N=COUNTROWS(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client_table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Xsum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=SUMX(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client_table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,[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average_income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Ysum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=SUMX(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client_table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,[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average_credit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XYsum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=SUMX(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client_table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,[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average_credit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]*[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average_income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Xsum2=SUMX(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client_table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,[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average_income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]^2)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Ysum2=SUMX(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client_table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,[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average_credit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]^2)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numerator=(n*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XYsum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)-(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Xsum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Ysum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denomerator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=SQRT(((n*Xsum2)-(Xsum^2))*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((n*Ysum2)-(Ysum^2)))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DIVIDE( numerator,denomerator,0)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604307C-8218-BFB9-4145-FDFE2DF711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5840" y="2872567"/>
            <a:ext cx="2080440" cy="199661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INSIGHTS  ·  PROBLEM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835640" y="38404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5543" y="523951"/>
            <a:ext cx="341986" cy="3419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Customer Satisfaction Score by Card Category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reusable measure that recalculates automatically for whichever Card_Category the visual is sliced by.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" y="528523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7280" y="5212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54864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on a clustered bar by Card_Category — a satisfaction gap between tiers usually points to a benefits or service issue.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03520" cy="2377440"/>
          </a:xfrm>
          <a:prstGeom prst="roundRect">
            <a:avLst>
              <a:gd name="adj" fmla="val 3462"/>
            </a:avLst>
          </a:prstGeom>
          <a:solidFill>
            <a:srgbClr val="162053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3796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37960" y="2267712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Satisfaction Score =</a:t>
            </a:r>
            <a:endParaRPr lang="en-US" sz="12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AVERAGE(CC[Cust_Satisfaction_Score])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INSIGHTS  ·  PROBLEM 14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835640" y="38404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5543" y="523951"/>
            <a:ext cx="341986" cy="3419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Approval vs Credit Limit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average credit limit between clients who hold a personal loan and those who don’t, to see whether loan status tracks with limit size.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" y="528523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7280" y="5212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54864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 gap suggests credit limit is a meaningful input — or an output — of the loan approval decision.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03520" cy="3781044"/>
          </a:xfrm>
          <a:prstGeom prst="roundRect">
            <a:avLst>
              <a:gd name="adj" fmla="val 2177"/>
            </a:avLst>
          </a:prstGeom>
          <a:solidFill>
            <a:srgbClr val="162053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3796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37960" y="2267712"/>
            <a:ext cx="4800600" cy="3232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CL - With Loan =</a:t>
            </a:r>
            <a:endParaRPr lang="en-US" sz="12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</a:t>
            </a:r>
            <a:endParaRPr lang="en-US" sz="12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AVERAGE(CC[creditLimit]),</a:t>
            </a:r>
            <a:endParaRPr lang="en-US" sz="12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CC[Personal_loan] = "Yes"</a:t>
            </a:r>
            <a:endParaRPr lang="en-US" sz="12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650"/>
              </a:lnSpc>
              <a:buNone/>
            </a:pPr>
            <a:endParaRPr lang="en-US" sz="12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CL - No Loan =</a:t>
            </a:r>
            <a:endParaRPr lang="en-US" sz="12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</a:t>
            </a:r>
            <a:endParaRPr lang="en-US" sz="12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AVERAGE(CC[creditLimit]),</a:t>
            </a:r>
            <a:endParaRPr lang="en-US" sz="12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CC[Personal_loan] = "No"</a:t>
            </a:r>
            <a:endParaRPr lang="en-US" sz="12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6AA0BEC-9709-3F69-8627-9EBE5CFDC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5666" y="2683421"/>
            <a:ext cx="2118544" cy="198137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BE228FB-D7DC-B3E2-3FAF-34A2B32B48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2683421"/>
            <a:ext cx="2034716" cy="18823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INSIGHTS  ·  PROBLEM 15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835640" y="38404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5543" y="523951"/>
            <a:ext cx="341986" cy="3419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Risk Clients Flag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two conditions — revolving balance above 90% of the limit, and utilization above 80% — into a single actionable flag.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" y="528523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7280" y="5212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54864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tightest of the three risk lenses — use it to prioritise the shortlist for manual review.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03520" cy="3259836"/>
          </a:xfrm>
          <a:prstGeom prst="roundRect">
            <a:avLst>
              <a:gd name="adj" fmla="val 2525"/>
            </a:avLst>
          </a:prstGeom>
          <a:solidFill>
            <a:srgbClr val="162053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3796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37960" y="2267712"/>
            <a:ext cx="4800600" cy="2711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Risk Flag =</a:t>
            </a:r>
            <a:endParaRPr lang="en-US" sz="12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revolvingratio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=DIVIDE(AVERAGE(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credit_card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Total_Revolving_Bal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]),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credit_card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Credit_Limit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]),0)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utilization_ratio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AVERAGE(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credit_card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Avg_Utilization_Ratio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</a:p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if(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revolvingratio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&lt;0.9 &amp;&amp; </a:t>
            </a:r>
            <a:r>
              <a:rPr lang="en-US" sz="12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utilization_ratio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&gt;0.7,"High_flag","normal")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3A4F968-B451-CB53-3D37-B0AAE885C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663" y="2618460"/>
            <a:ext cx="1676545" cy="236044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42E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54864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811" y="682371"/>
            <a:ext cx="326898" cy="3268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5760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These Measures Work Together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20116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691640" y="20574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measures (1–4) tell you if the portfolio is expanding — utilization and revenue measures (5–8) tell you at what cost.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090672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691640" y="3136392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and delinquency (9–10) catch clients drifting away; the risk score and correlation (11–12) explain why.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4169664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1691640" y="4215384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High-utilization, high-risk-flag and loan-vs-limit views (8, 14, 15) triangulate the same clients from three angles — use them together, not alone.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5248656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691640" y="5294376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by card tier (13) turns a risk-focused report into a retention one — pair it with the churn flag before acting.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2926080"/>
            <a:ext cx="5943600" cy="5943600"/>
          </a:xfrm>
          <a:prstGeom prst="ellipse">
            <a:avLst/>
          </a:prstGeom>
          <a:solidFill>
            <a:srgbClr val="242E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58384" y="146304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124" y="16687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514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Portfolio Analytics — DAX Measures for Power BI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Suresh Deuja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461772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15000" y="45994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linkedin.com/in/suresh-deuja-209305391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2359</Words>
  <Application>Microsoft Office PowerPoint</Application>
  <PresentationFormat>Widescreen</PresentationFormat>
  <Paragraphs>274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Suresh Deuja</cp:lastModifiedBy>
  <cp:revision>5</cp:revision>
  <dcterms:created xsi:type="dcterms:W3CDTF">2026-09-27T10:15:46Z</dcterms:created>
  <dcterms:modified xsi:type="dcterms:W3CDTF">2026-10-02T22:43:46Z</dcterms:modified>
</cp:coreProperties>
</file>